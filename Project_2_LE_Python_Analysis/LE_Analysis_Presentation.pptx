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Global Life Expectancy Trend (years)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LE</c:v>
                </c:pt>
              </c:strCache>
            </c:strRef>
          </c:tx>
          <c:spPr>
            <a:ln w="38100" cap="flat">
              <a:solidFill>
                <a:srgbClr val="2CA5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A58D"/>
              </a:solidFill>
              <a:ln w="9525" cap="flat">
                <a:solidFill>
                  <a:srgbClr val="2CA58D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67.84</c:v>
                </c:pt>
                <c:pt idx="1">
                  <c:v>68.11</c:v>
                </c:pt>
                <c:pt idx="2">
                  <c:v>68.22</c:v>
                </c:pt>
                <c:pt idx="3">
                  <c:v>68.48</c:v>
                </c:pt>
                <c:pt idx="4">
                  <c:v>68.75</c:v>
                </c:pt>
                <c:pt idx="5">
                  <c:v>69.150000000000006</c:v>
                </c:pt>
                <c:pt idx="6">
                  <c:v>69.489999999999995</c:v>
                </c:pt>
                <c:pt idx="7">
                  <c:v>69.92</c:v>
                </c:pt>
                <c:pt idx="8">
                  <c:v>70.19</c:v>
                </c:pt>
                <c:pt idx="9">
                  <c:v>70.45</c:v>
                </c:pt>
                <c:pt idx="10">
                  <c:v>70.61</c:v>
                </c:pt>
                <c:pt idx="11">
                  <c:v>71.040000000000006</c:v>
                </c:pt>
                <c:pt idx="12">
                  <c:v>71.36</c:v>
                </c:pt>
                <c:pt idx="13">
                  <c:v>71.599999999999994</c:v>
                </c:pt>
                <c:pt idx="14">
                  <c:v>71.83</c:v>
                </c:pt>
                <c:pt idx="15">
                  <c:v>71.97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8FA-4817-9CDC-EFD71E9D0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4"/>
          <c:min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2CA58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0E-46E8-8CC7-0CCE8D62900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0E-46E8-8CC7-0CCE8D62900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70E-46E8-8CC7-0CCE8D629003}"/>
              </c:ext>
            </c:extLst>
          </c:dPt>
          <c:dPt>
            <c:idx val="3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0E-46E8-8CC7-0CCE8D629003}"/>
              </c:ext>
            </c:extLst>
          </c:dPt>
          <c:dPt>
            <c:idx val="4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0E-46E8-8CC7-0CCE8D629003}"/>
              </c:ext>
            </c:extLst>
          </c:dPt>
          <c:dPt>
            <c:idx val="5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70E-46E8-8CC7-0CCE8D629003}"/>
              </c:ext>
            </c:extLst>
          </c:dPt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7858887430737823E-2"/>
                      <c:h val="5.55722201391492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870E-46E8-8CC7-0CCE8D62900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Income Composition (ICOR)</c:v>
                </c:pt>
                <c:pt idx="1">
                  <c:v>Schooling</c:v>
                </c:pt>
                <c:pt idx="2">
                  <c:v>Immunization (Composite)</c:v>
                </c:pt>
                <c:pt idx="3">
                  <c:v>HIV/AIDS (negative)</c:v>
                </c:pt>
                <c:pt idx="4">
                  <c:v>Thinness 1-19 yrs (neg)</c:v>
                </c:pt>
                <c:pt idx="5">
                  <c:v>Adult Mortality (neg)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0.89</c:v>
                </c:pt>
                <c:pt idx="1">
                  <c:v>0.78</c:v>
                </c:pt>
                <c:pt idx="2">
                  <c:v>0.57999999999999996</c:v>
                </c:pt>
                <c:pt idx="3">
                  <c:v>0.56000000000000005</c:v>
                </c:pt>
                <c:pt idx="4">
                  <c:v>0.48</c:v>
                </c:pt>
                <c:pt idx="5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0E-46E8-8CC7-0CCE8D6290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Correlation</c:v>
                </c:pt>
              </c:strCache>
            </c:strRef>
          </c:tx>
          <c:spPr>
            <a:solidFill>
              <a:srgbClr val="12687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Polio</c:v>
                </c:pt>
                <c:pt idx="1">
                  <c:v>Diphtheria</c:v>
                </c:pt>
                <c:pt idx="2">
                  <c:v>Hep B</c:v>
                </c:pt>
                <c:pt idx="3">
                  <c:v>Immunization Composite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</c:v>
                </c:pt>
                <c:pt idx="1">
                  <c:v>0.62</c:v>
                </c:pt>
                <c:pt idx="2">
                  <c:v>0.38</c:v>
                </c:pt>
                <c:pt idx="3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53-45F7-A00E-96AB32C9F5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Controlling for GDP &amp; Region</c:v>
                </c:pt>
              </c:strCache>
            </c:strRef>
          </c:tx>
          <c:spPr>
            <a:solidFill>
              <a:srgbClr val="2CA58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Polio</c:v>
                </c:pt>
                <c:pt idx="1">
                  <c:v>Diphtheria</c:v>
                </c:pt>
                <c:pt idx="2">
                  <c:v>Hep B</c:v>
                </c:pt>
                <c:pt idx="3">
                  <c:v>Immunization Composite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0.48</c:v>
                </c:pt>
                <c:pt idx="1">
                  <c:v>0.48</c:v>
                </c:pt>
                <c:pt idx="2">
                  <c:v>0.33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53-45F7-A00E-96AB32C9F5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38100" cap="flat">
              <a:solidFill>
                <a:srgbClr val="2CA5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A58D"/>
              </a:solidFill>
              <a:ln w="9525" cap="flat">
                <a:solidFill>
                  <a:srgbClr val="2CA58D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67.84</c:v>
                </c:pt>
                <c:pt idx="1">
                  <c:v>68.11</c:v>
                </c:pt>
                <c:pt idx="2">
                  <c:v>68.22</c:v>
                </c:pt>
                <c:pt idx="3">
                  <c:v>68.48</c:v>
                </c:pt>
                <c:pt idx="4">
                  <c:v>68.75</c:v>
                </c:pt>
                <c:pt idx="5">
                  <c:v>69.150000000000006</c:v>
                </c:pt>
                <c:pt idx="6">
                  <c:v>69.489999999999995</c:v>
                </c:pt>
                <c:pt idx="7">
                  <c:v>69.92</c:v>
                </c:pt>
                <c:pt idx="8">
                  <c:v>70.19</c:v>
                </c:pt>
                <c:pt idx="9">
                  <c:v>70.45</c:v>
                </c:pt>
                <c:pt idx="10">
                  <c:v>70.61</c:v>
                </c:pt>
                <c:pt idx="11">
                  <c:v>71.040000000000006</c:v>
                </c:pt>
                <c:pt idx="12">
                  <c:v>71.36</c:v>
                </c:pt>
                <c:pt idx="13">
                  <c:v>71.599999999999994</c:v>
                </c:pt>
                <c:pt idx="14">
                  <c:v>71.83</c:v>
                </c:pt>
                <c:pt idx="15">
                  <c:v>71.97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CE5-4766-A079-89608505CB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ARIMA Forecast</c:v>
                </c:pt>
              </c:strCache>
            </c:strRef>
          </c:tx>
          <c:spPr>
            <a:ln w="381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15">
                  <c:v>71.97</c:v>
                </c:pt>
                <c:pt idx="16">
                  <c:v>72.16</c:v>
                </c:pt>
                <c:pt idx="17">
                  <c:v>72.36</c:v>
                </c:pt>
                <c:pt idx="18">
                  <c:v>72.55</c:v>
                </c:pt>
                <c:pt idx="19">
                  <c:v>72.75</c:v>
                </c:pt>
                <c:pt idx="20">
                  <c:v>72.94</c:v>
                </c:pt>
                <c:pt idx="21">
                  <c:v>73.14</c:v>
                </c:pt>
                <c:pt idx="22">
                  <c:v>73.33</c:v>
                </c:pt>
                <c:pt idx="23">
                  <c:v>73.53</c:v>
                </c:pt>
                <c:pt idx="24">
                  <c:v>73.72</c:v>
                </c:pt>
                <c:pt idx="25">
                  <c:v>73.88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CE5-4766-A079-89608505C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6"/>
          <c:min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Simple Average</c:v>
                </c:pt>
              </c:strCache>
            </c:strRef>
          </c:tx>
          <c:spPr>
            <a:solidFill>
              <a:srgbClr val="12687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African</c:v>
                </c:pt>
                <c:pt idx="1">
                  <c:v>Americas</c:v>
                </c:pt>
                <c:pt idx="2">
                  <c:v>E. Mediterranean</c:v>
                </c:pt>
                <c:pt idx="3">
                  <c:v>European</c:v>
                </c:pt>
                <c:pt idx="4">
                  <c:v>S-E Asia</c:v>
                </c:pt>
                <c:pt idx="5">
                  <c:v>W. Pacific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55.8</c:v>
                </c:pt>
                <c:pt idx="1">
                  <c:v>74.5</c:v>
                </c:pt>
                <c:pt idx="2">
                  <c:v>68.400000000000006</c:v>
                </c:pt>
                <c:pt idx="3">
                  <c:v>76.2</c:v>
                </c:pt>
                <c:pt idx="4">
                  <c:v>68.900000000000006</c:v>
                </c:pt>
                <c:pt idx="5">
                  <c:v>72.099999999999994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F5-4CD2-8BBB-717E76EB80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Population-Weighted</c:v>
                </c:pt>
              </c:strCache>
            </c:strRef>
          </c:tx>
          <c:spPr>
            <a:solidFill>
              <a:srgbClr val="2CA58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African</c:v>
                </c:pt>
                <c:pt idx="1">
                  <c:v>Americas</c:v>
                </c:pt>
                <c:pt idx="2">
                  <c:v>E. Mediterranean</c:v>
                </c:pt>
                <c:pt idx="3">
                  <c:v>European</c:v>
                </c:pt>
                <c:pt idx="4">
                  <c:v>S-E Asia</c:v>
                </c:pt>
                <c:pt idx="5">
                  <c:v>W. Pacific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54.3</c:v>
                </c:pt>
                <c:pt idx="1">
                  <c:v>76.599999999999994</c:v>
                </c:pt>
                <c:pt idx="2">
                  <c:v>66.599999999999994</c:v>
                </c:pt>
                <c:pt idx="3">
                  <c:v>75.8</c:v>
                </c:pt>
                <c:pt idx="4">
                  <c:v>66.7</c:v>
                </c:pt>
                <c:pt idx="5">
                  <c:v>74.5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F5-4CD2-8BBB-717E76EB8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"/>
          <c:min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38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World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how long people live? A data analysis of 183 countries (2000–2015)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Life Expectancy Dataset  ·  Python Statistical Analysis  ·  World Bank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41148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countries · 16 years of data · 2,900+ data points analysed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4008" cy="10515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LE in 2015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64008" cy="105156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697480" y="1444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LE in 2000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64008" cy="10515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00600" y="1444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gained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→ 2015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64008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903720" y="1444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03720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 variation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our model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" y="2651760"/>
          <a:ext cx="82296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How Long People Live?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41148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correlation strength with life expectancy (Pearson 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51793125"/>
              </p:ext>
            </p:extLst>
          </p:nvPr>
        </p:nvGraphicFramePr>
        <p:xfrm>
          <a:off x="457200" y="10058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05840"/>
            <a:ext cx="2651760" cy="182880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3093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1417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ICOR (Income Composition of Resources) is the #1 predictor — stronger than GDP alone. It measures how well a country converts its wealth into human development.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30175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64008" cy="182880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30936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R² = 0.886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349300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of why countries have different life expectancies is explained by the variables we measured.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Wealth Cause Longer Lives?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41148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Preston Curve — a foundational finding in health economics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3075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 variation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GDP (linear)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64008" cy="10515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94360" y="2587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3081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 variation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log(GDP)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64008" cy="105156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94360" y="3867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436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GDP effect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countries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234440"/>
            <a:ext cx="54864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47472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Preston Curve: Diminishing Returns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17830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$500 → $1,500 GDP: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many lives. Childhood disease, nutrition, sanitation all dramatically improve.
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$40,000 → $41,000 GDP: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effect. Rich countries have already solved the basics.
</a:t>
            </a: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proof: </a:t>
            </a: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log(GDP) explains 28% more variance than linear GDP. Our interaction term confirmed the GDP effect is ~10× stronger for developing nations.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Immunization Actually Help?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41148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genuine effect from wealth confounding using partial correlations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05840"/>
            <a:ext cx="2834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943600" y="1005840"/>
            <a:ext cx="64008" cy="10515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080760" y="1078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08076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correlation after removing GDP effect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286000"/>
            <a:ext cx="2834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943600" y="2286000"/>
            <a:ext cx="64008" cy="10515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080760" y="2359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significant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08076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0 — immunization has genuine independent effect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3566160"/>
            <a:ext cx="2834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943600" y="3566160"/>
            <a:ext cx="64008" cy="10515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080760" y="3639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0.296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080760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LE per 1% immunization increase in developing nations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Immunization genuinely saves lives — not just a marker of being wealthy.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GDP ≠ Long Life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41148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78357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 curse: when oil wealth doesn't translate to health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ICOR (Human Development)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79% of LE variation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ICOR measures: education, healthcare access, income equality — not just raw wealth.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high ICOR consistently achieve high LE regardless of GDP.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(Raw Wealth)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only 34% of LE variation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Equatorial Guinea: High oil GDP, one of the worst LE outcomes globally (−4.5 years below predicted).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wealth without human development investment fails to improve health.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implication: Invest in education, healthcare access, and equality — not just GDP growth.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Beats the Odds?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41148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performing better or worse than their wealth and health stats predict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4114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Overachievers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Vanuatu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+5.7 yrs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13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313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 yrs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43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Nicaragua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8437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+4.9 yrs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3741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 yrs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04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Honduras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904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+4.6 yrs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countries achieve higher LE than their GDP and health indicators predict — effective public health policy.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02336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Underperformers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−8.7 yrs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313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23134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−8.1 yrs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2843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Turkmenistan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28437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−6.3 yrs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33741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−6.3 yrs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904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3904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−5.8 yrs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297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Conflict, weak institutions, and post-Soviet health collapse — factors not captured by individual metrics.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We Headed?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41148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 — global life expectancy extended to 2025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62179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949440" y="100584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949440" y="1005840"/>
            <a:ext cx="64008" cy="10515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086600" y="1078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086600" y="1572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LE in 2015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49440" y="22860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949440" y="2286000"/>
            <a:ext cx="64008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086600" y="23591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86600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LE in 2025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356616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949440" y="3566160"/>
            <a:ext cx="64008" cy="105156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086600" y="36393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086600" y="4133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→ 2025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Caveat: COVID-19 (2020–22) caused a real setback not captured here. Actual 2025 LE likely near lower bound of forecast confidence interval.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41148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averages — the true picture vs simple averages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943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005840"/>
            <a:ext cx="2286000" cy="38404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72084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20840" y="1463040"/>
            <a:ext cx="2011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South-East Asia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−2.19 years
India pulls the true average down
</a:t>
            </a:r>
            <a:r>
              <a:rPr lang="en-US" sz="11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Pacific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+2.44 years
China's size inflates weighted avg
</a:t>
            </a:r>
            <a:r>
              <a:rPr lang="en-US" sz="11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+2.11 years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and Brazil above regional avg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914400" cy="36576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5943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ICOR beats GDP: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0759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country invests wealth in human development predicts LE far better than raw wealth alone (r=0.89 vs 0.58).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02920" cy="5943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819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Immunization saves lives: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controlling for wealth, immunization has a genuine independent effect — 0.3 extra years per 1% coverage increase in developing nations.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502920" cy="5943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5968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615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hits diminishing returns: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89864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Preston Curve: each dollar of GDP matters ~10× more in poor countries than rich ones.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92424"/>
            <a:ext cx="502920" cy="5943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" y="33924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countries beat the odds: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69417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Vanuatu, Vietnam, Nicaragua achieve 5+ more years than predicted — effective public health policy matters.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502920" cy="594360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is rising: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48970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projects global LE reaching ~73.9 years by 2025 — assuming no structural breaks like COVID-19.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7873</TotalTime>
  <Words>833</Words>
  <Application>Microsoft Office PowerPoint</Application>
  <PresentationFormat>On-screen Show (16:9)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Elkhatib</cp:lastModifiedBy>
  <cp:revision>2</cp:revision>
  <dcterms:created xsi:type="dcterms:W3CDTF">2026-05-07T10:50:31Z</dcterms:created>
  <dcterms:modified xsi:type="dcterms:W3CDTF">2026-05-13T13:56:04Z</dcterms:modified>
</cp:coreProperties>
</file>