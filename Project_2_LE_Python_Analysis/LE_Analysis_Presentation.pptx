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4.xml" ContentType="application/vnd.openxmlformats-officedocument.drawingml.chart+xml"/>
  <Override PartName="/ppt/notesSlides/notesSlide9.xml" ContentType="application/vnd.openxmlformats-officedocument.presentationml.notesSlide+xml"/>
  <Override PartName="/ppt/charts/chart5.xml" ContentType="application/vnd.openxmlformats-officedocument.drawingml.char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000000"/>
                </a:solidFill>
                <a:latin typeface="Arial"/>
              </a:rPr>
              <a:t>Global Life Expectancy Trend (years)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Global LE</c:v>
                </c:pt>
              </c:strCache>
            </c:strRef>
          </c:tx>
          <c:spPr>
            <a:ln w="38100" cap="flat">
              <a:solidFill>
                <a:srgbClr val="2CA58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CA58D"/>
              </a:solidFill>
              <a:ln w="9525" cap="flat">
                <a:solidFill>
                  <a:srgbClr val="2CA58D"/>
                </a:solidFill>
                <a:prstDash val="solid"/>
                <a:round/>
              </a:ln>
              <a:effectLst/>
            </c:spPr>
          </c:marker>
          <c:cat>
            <c:strRef>
              <c:f>Sheet1!$A$2:$A$17</c:f>
              <c:strCache>
                <c:ptCount val="1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67.84</c:v>
                </c:pt>
                <c:pt idx="1">
                  <c:v>68.11</c:v>
                </c:pt>
                <c:pt idx="2">
                  <c:v>68.22</c:v>
                </c:pt>
                <c:pt idx="3">
                  <c:v>68.48</c:v>
                </c:pt>
                <c:pt idx="4">
                  <c:v>68.75</c:v>
                </c:pt>
                <c:pt idx="5">
                  <c:v>69.150000000000006</c:v>
                </c:pt>
                <c:pt idx="6">
                  <c:v>69.489999999999995</c:v>
                </c:pt>
                <c:pt idx="7">
                  <c:v>69.92</c:v>
                </c:pt>
                <c:pt idx="8">
                  <c:v>70.19</c:v>
                </c:pt>
                <c:pt idx="9">
                  <c:v>70.45</c:v>
                </c:pt>
                <c:pt idx="10">
                  <c:v>70.61</c:v>
                </c:pt>
                <c:pt idx="11">
                  <c:v>71.040000000000006</c:v>
                </c:pt>
                <c:pt idx="12">
                  <c:v>71.36</c:v>
                </c:pt>
                <c:pt idx="13">
                  <c:v>71.599999999999994</c:v>
                </c:pt>
                <c:pt idx="14">
                  <c:v>71.83</c:v>
                </c:pt>
                <c:pt idx="15">
                  <c:v>71.97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38FA-4817-9CDC-EFD71E9D05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4"/>
          <c:min val="6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Correlation</c:v>
                </c:pt>
              </c:strCache>
            </c:strRef>
          </c:tx>
          <c:spPr>
            <a:solidFill>
              <a:srgbClr val="2CA58D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CA58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70E-46E8-8CC7-0CCE8D629003}"/>
              </c:ext>
            </c:extLst>
          </c:dPt>
          <c:dPt>
            <c:idx val="1"/>
            <c:invertIfNegative val="0"/>
            <c:bubble3D val="0"/>
            <c:spPr>
              <a:solidFill>
                <a:srgbClr val="2CA58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70E-46E8-8CC7-0CCE8D629003}"/>
              </c:ext>
            </c:extLst>
          </c:dPt>
          <c:dPt>
            <c:idx val="2"/>
            <c:invertIfNegative val="0"/>
            <c:bubble3D val="0"/>
            <c:spPr>
              <a:solidFill>
                <a:srgbClr val="2CA58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70E-46E8-8CC7-0CCE8D629003}"/>
              </c:ext>
            </c:extLst>
          </c:dPt>
          <c:dPt>
            <c:idx val="3"/>
            <c:invertIfNegative val="0"/>
            <c:bubble3D val="0"/>
            <c:spPr>
              <a:solidFill>
                <a:srgbClr val="E53E3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70E-46E8-8CC7-0CCE8D629003}"/>
              </c:ext>
            </c:extLst>
          </c:dPt>
          <c:dPt>
            <c:idx val="4"/>
            <c:invertIfNegative val="0"/>
            <c:bubble3D val="0"/>
            <c:spPr>
              <a:solidFill>
                <a:srgbClr val="E53E3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70E-46E8-8CC7-0CCE8D629003}"/>
              </c:ext>
            </c:extLst>
          </c:dPt>
          <c:dPt>
            <c:idx val="5"/>
            <c:invertIfNegative val="0"/>
            <c:bubble3D val="0"/>
            <c:spPr>
              <a:solidFill>
                <a:srgbClr val="E53E3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70E-46E8-8CC7-0CCE8D629003}"/>
              </c:ext>
            </c:extLst>
          </c:dPt>
          <c:dLbls>
            <c:dLbl>
              <c:idx val="3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7858887430737823E-2"/>
                      <c:h val="5.5572220139149267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7-870E-46E8-8CC7-0CCE8D62900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2B3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Income Composition (ICOR)</c:v>
                </c:pt>
                <c:pt idx="1">
                  <c:v>Schooling</c:v>
                </c:pt>
                <c:pt idx="2">
                  <c:v>Immunization (Composite)</c:v>
                </c:pt>
                <c:pt idx="3">
                  <c:v>HIV/AIDS (negative)</c:v>
                </c:pt>
                <c:pt idx="4">
                  <c:v>Thinness 1-19 yrs (neg)</c:v>
                </c:pt>
                <c:pt idx="5">
                  <c:v>Adult Mortality (neg)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0.89</c:v>
                </c:pt>
                <c:pt idx="1">
                  <c:v>0.78</c:v>
                </c:pt>
                <c:pt idx="2">
                  <c:v>0.57999999999999996</c:v>
                </c:pt>
                <c:pt idx="3">
                  <c:v>0.56000000000000005</c:v>
                </c:pt>
                <c:pt idx="4">
                  <c:v>0.48</c:v>
                </c:pt>
                <c:pt idx="5">
                  <c:v>0.69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70E-46E8-8CC7-0CCE8D62900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Raw Correlation</c:v>
                </c:pt>
              </c:strCache>
            </c:strRef>
          </c:tx>
          <c:spPr>
            <a:solidFill>
              <a:srgbClr val="126872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Polio</c:v>
                </c:pt>
                <c:pt idx="1">
                  <c:v>Diphtheria</c:v>
                </c:pt>
                <c:pt idx="2">
                  <c:v>Hep B</c:v>
                </c:pt>
                <c:pt idx="3">
                  <c:v>Immunization Composite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0.62</c:v>
                </c:pt>
                <c:pt idx="1">
                  <c:v>0.62</c:v>
                </c:pt>
                <c:pt idx="2">
                  <c:v>0.38</c:v>
                </c:pt>
                <c:pt idx="3">
                  <c:v>0.57999999999999996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853-45F7-A00E-96AB32C9F54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Controlling for GDP &amp; Region</c:v>
                </c:pt>
              </c:strCache>
            </c:strRef>
          </c:tx>
          <c:spPr>
            <a:solidFill>
              <a:srgbClr val="2CA58D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Polio</c:v>
                </c:pt>
                <c:pt idx="1">
                  <c:v>Diphtheria</c:v>
                </c:pt>
                <c:pt idx="2">
                  <c:v>Hep B</c:v>
                </c:pt>
                <c:pt idx="3">
                  <c:v>Immunization Composite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0.48</c:v>
                </c:pt>
                <c:pt idx="1">
                  <c:v>0.48</c:v>
                </c:pt>
                <c:pt idx="2">
                  <c:v>0.33</c:v>
                </c:pt>
                <c:pt idx="3">
                  <c:v>0.45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853-45F7-A00E-96AB32C9F5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38100" cap="flat">
              <a:solidFill>
                <a:srgbClr val="2CA58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CA58D"/>
              </a:solidFill>
              <a:ln w="9525" cap="flat">
                <a:solidFill>
                  <a:srgbClr val="2CA58D"/>
                </a:solidFill>
                <a:prstDash val="solid"/>
                <a:round/>
              </a:ln>
              <a:effectLst/>
            </c:spPr>
          </c:marker>
          <c:cat>
            <c:strRef>
              <c:f>Sheet1!$A$2:$A$27</c:f>
              <c:strCache>
                <c:ptCount val="2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67.84</c:v>
                </c:pt>
                <c:pt idx="1">
                  <c:v>68.11</c:v>
                </c:pt>
                <c:pt idx="2">
                  <c:v>68.22</c:v>
                </c:pt>
                <c:pt idx="3">
                  <c:v>68.48</c:v>
                </c:pt>
                <c:pt idx="4">
                  <c:v>68.75</c:v>
                </c:pt>
                <c:pt idx="5">
                  <c:v>69.150000000000006</c:v>
                </c:pt>
                <c:pt idx="6">
                  <c:v>69.489999999999995</c:v>
                </c:pt>
                <c:pt idx="7">
                  <c:v>69.92</c:v>
                </c:pt>
                <c:pt idx="8">
                  <c:v>70.19</c:v>
                </c:pt>
                <c:pt idx="9">
                  <c:v>70.45</c:v>
                </c:pt>
                <c:pt idx="10">
                  <c:v>70.61</c:v>
                </c:pt>
                <c:pt idx="11">
                  <c:v>71.040000000000006</c:v>
                </c:pt>
                <c:pt idx="12">
                  <c:v>71.36</c:v>
                </c:pt>
                <c:pt idx="13">
                  <c:v>71.599999999999994</c:v>
                </c:pt>
                <c:pt idx="14">
                  <c:v>71.83</c:v>
                </c:pt>
                <c:pt idx="15">
                  <c:v>71.97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4CE5-4766-A079-89608505CB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ARIMA Forecast</c:v>
                </c:pt>
              </c:strCache>
            </c:strRef>
          </c:tx>
          <c:spPr>
            <a:ln w="38100" cap="flat">
              <a:solidFill>
                <a:srgbClr val="E67E2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67E22"/>
              </a:solidFill>
              <a:ln w="9525" cap="flat">
                <a:solidFill>
                  <a:srgbClr val="E67E22"/>
                </a:solidFill>
                <a:prstDash val="solid"/>
                <a:round/>
              </a:ln>
              <a:effectLst/>
            </c:spPr>
          </c:marker>
          <c:cat>
            <c:strRef>
              <c:f>Sheet1!$A$2:$A$27</c:f>
              <c:strCache>
                <c:ptCount val="2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15">
                  <c:v>71.97</c:v>
                </c:pt>
                <c:pt idx="16">
                  <c:v>72.16</c:v>
                </c:pt>
                <c:pt idx="17">
                  <c:v>72.36</c:v>
                </c:pt>
                <c:pt idx="18">
                  <c:v>72.55</c:v>
                </c:pt>
                <c:pt idx="19">
                  <c:v>72.75</c:v>
                </c:pt>
                <c:pt idx="20">
                  <c:v>72.94</c:v>
                </c:pt>
                <c:pt idx="21">
                  <c:v>73.14</c:v>
                </c:pt>
                <c:pt idx="22">
                  <c:v>73.33</c:v>
                </c:pt>
                <c:pt idx="23">
                  <c:v>73.53</c:v>
                </c:pt>
                <c:pt idx="24">
                  <c:v>73.72</c:v>
                </c:pt>
                <c:pt idx="25">
                  <c:v>73.88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4CE5-4766-A079-89608505CB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6"/>
          <c:min val="6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Simple Average</c:v>
                </c:pt>
              </c:strCache>
            </c:strRef>
          </c:tx>
          <c:spPr>
            <a:solidFill>
              <a:srgbClr val="12687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African</c:v>
                </c:pt>
                <c:pt idx="1">
                  <c:v>Americas</c:v>
                </c:pt>
                <c:pt idx="2">
                  <c:v>E. Mediterranean</c:v>
                </c:pt>
                <c:pt idx="3">
                  <c:v>European</c:v>
                </c:pt>
                <c:pt idx="4">
                  <c:v>S-E Asia</c:v>
                </c:pt>
                <c:pt idx="5">
                  <c:v>W. Pacific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55.8</c:v>
                </c:pt>
                <c:pt idx="1">
                  <c:v>74.5</c:v>
                </c:pt>
                <c:pt idx="2">
                  <c:v>68.400000000000006</c:v>
                </c:pt>
                <c:pt idx="3">
                  <c:v>76.2</c:v>
                </c:pt>
                <c:pt idx="4">
                  <c:v>68.900000000000006</c:v>
                </c:pt>
                <c:pt idx="5">
                  <c:v>72.099999999999994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8F5-4CD2-8BBB-717E76EB80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Population-Weighted</c:v>
                </c:pt>
              </c:strCache>
            </c:strRef>
          </c:tx>
          <c:spPr>
            <a:solidFill>
              <a:srgbClr val="2CA58D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African</c:v>
                </c:pt>
                <c:pt idx="1">
                  <c:v>Americas</c:v>
                </c:pt>
                <c:pt idx="2">
                  <c:v>E. Mediterranean</c:v>
                </c:pt>
                <c:pt idx="3">
                  <c:v>European</c:v>
                </c:pt>
                <c:pt idx="4">
                  <c:v>S-E Asia</c:v>
                </c:pt>
                <c:pt idx="5">
                  <c:v>W. Pacific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54.3</c:v>
                </c:pt>
                <c:pt idx="1">
                  <c:v>76.599999999999994</c:v>
                </c:pt>
                <c:pt idx="2">
                  <c:v>66.599999999999994</c:v>
                </c:pt>
                <c:pt idx="3">
                  <c:v>75.8</c:v>
                </c:pt>
                <c:pt idx="4">
                  <c:v>66.7</c:v>
                </c:pt>
                <c:pt idx="5">
                  <c:v>74.5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8F5-4CD2-8BBB-717E76EB80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2"/>
          <c:min val="4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33879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126872"/>
          </a:solidFill>
          <a:ln w="12700">
            <a:solidFill>
              <a:srgbClr val="12687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Expectancy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the World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how long people live? A data analysis of 183 countries (2000–2015)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3434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Life Expectancy Dataset  ·  Python Statistical Analysis  ·  World Bank Data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86384"/>
            <a:ext cx="1097280" cy="41148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 countries · 16 years of data · 2,900+ data points analysed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96596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64008" cy="1051560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94360" y="144475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71.97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94360" y="193852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avg LE in 2015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0" y="1371600"/>
            <a:ext cx="196596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560320" y="1371600"/>
            <a:ext cx="64008" cy="1051560"/>
          </a:xfrm>
          <a:prstGeom prst="rect">
            <a:avLst/>
          </a:prstGeom>
          <a:solidFill>
            <a:srgbClr val="126872"/>
          </a:solidFill>
          <a:ln w="12700">
            <a:solidFill>
              <a:srgbClr val="12687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697480" y="144475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67.84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697480" y="193852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avg LE in 2000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371600"/>
            <a:ext cx="196596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64008" cy="1051560"/>
          </a:xfrm>
          <a:prstGeom prst="rect">
            <a:avLst/>
          </a:prstGeom>
          <a:solidFill>
            <a:srgbClr val="38A169"/>
          </a:solidFill>
          <a:ln w="12700">
            <a:solidFill>
              <a:srgbClr val="38A1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800600" y="144475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+4.1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800600" y="193852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gained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 → 2015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66560" y="1371600"/>
            <a:ext cx="196596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766560" y="1371600"/>
            <a:ext cx="64008" cy="10515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903720" y="144475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88.6%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903720" y="193852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 variation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explained by our model</a:t>
            </a:r>
            <a:endParaRPr lang="en-US" sz="110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457200" y="2651760"/>
          <a:ext cx="822960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Predicts How Long People Live?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86384"/>
            <a:ext cx="1097280" cy="41148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correlation strength with life expectancy (Pearson r)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551793125"/>
              </p:ext>
            </p:extLst>
          </p:nvPr>
        </p:nvGraphicFramePr>
        <p:xfrm>
          <a:off x="457200" y="1005840"/>
          <a:ext cx="548640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6126480" y="1005840"/>
            <a:ext cx="2651760" cy="1828800"/>
          </a:xfrm>
          <a:prstGeom prst="rect">
            <a:avLst/>
          </a:prstGeom>
          <a:solidFill>
            <a:srgbClr val="0A2342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6309360" y="1097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A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309360" y="14173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ICOR (Income Composition of Resources) is the #1 predictor — stronger than GDP alone. It measures how well a country converts its wealth into human development.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26480" y="301752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6126480" y="3017520"/>
            <a:ext cx="64008" cy="1828800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6309360" y="3108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R² = 0.886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309360" y="3493008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88.6% of why countries have different life expectancies is explained by the variables we measured.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Wealth Cause Longer Lives?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86384"/>
            <a:ext cx="1097280" cy="41148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Preston Curve — a foundational finding in health economics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5603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94360" y="130759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94360" y="18013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 variation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explained by GDP (linear)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25603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64008" cy="1051560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94360" y="258775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94360" y="30815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 variation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explained by log(GDP)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25603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64008" cy="1051560"/>
          </a:xfrm>
          <a:prstGeom prst="rect">
            <a:avLst/>
          </a:prstGeom>
          <a:solidFill>
            <a:srgbClr val="126872"/>
          </a:solidFill>
          <a:ln w="12700">
            <a:solidFill>
              <a:srgbClr val="12687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94360" y="38679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~10x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94360" y="43616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GDP effect in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countries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1840" y="1234440"/>
            <a:ext cx="548640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47472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Preston Curve: Diminishing Returns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74720" y="17830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from $500 → $1,500 GDP: </a:t>
            </a: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many lives. Childhood disease, nutrition, sanitation all dramatically improve.
</a:t>
            </a:r>
            <a:r>
              <a:rPr lang="en-US" sz="13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from $40,000 → $41,000 GDP: </a:t>
            </a: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 effect. Rich countries have already solved the basics.
</a:t>
            </a:r>
            <a:r>
              <a:rPr lang="en-US" sz="13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proof: </a:t>
            </a: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log(GDP) explains 28% more variance than linear GDP. Our interaction term confirmed the GDP effect is ~10× stronger for developing nations.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Immunization Actually Help?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86384"/>
            <a:ext cx="1097280" cy="41148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genuine effect from wealth confounding using partial correlations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005840"/>
          <a:ext cx="530352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943600" y="1005840"/>
            <a:ext cx="283464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5943600" y="1005840"/>
            <a:ext cx="64008" cy="1051560"/>
          </a:xfrm>
          <a:prstGeom prst="rect">
            <a:avLst/>
          </a:prstGeom>
          <a:solidFill>
            <a:srgbClr val="D69E2E"/>
          </a:solidFill>
          <a:ln w="12700">
            <a:solidFill>
              <a:srgbClr val="D69E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080760" y="107899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~22%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6080760" y="15727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correlation after removing GDP effect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43600" y="2286000"/>
            <a:ext cx="283464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5943600" y="2286000"/>
            <a:ext cx="64008" cy="1051560"/>
          </a:xfrm>
          <a:prstGeom prst="rect">
            <a:avLst/>
          </a:prstGeom>
          <a:solidFill>
            <a:srgbClr val="38A169"/>
          </a:solidFill>
          <a:ln w="12700">
            <a:solidFill>
              <a:srgbClr val="38A1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6080760" y="235915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significant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6080760" y="28529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≈ 0 — immunization has genuine independent effect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43600" y="3566160"/>
            <a:ext cx="283464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5943600" y="3566160"/>
            <a:ext cx="64008" cy="1051560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6080760" y="363931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6080760" y="41330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LE per 1% immunization increase in developing nations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12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Immunization genuinely saves lives — not just a marker of being wealthy.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GDP ≠ Long Life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86384"/>
            <a:ext cx="1097280" cy="41148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78357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resource curse: when oil wealth doesn't translate to health outcomes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931920" cy="411480"/>
          </a:xfrm>
          <a:prstGeom prst="rect">
            <a:avLst/>
          </a:prstGeom>
          <a:solidFill>
            <a:srgbClr val="126872"/>
          </a:solidFill>
          <a:ln w="12700">
            <a:solidFill>
              <a:srgbClr val="12687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ICOR (Human Development)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0.89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79% of LE variation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ICOR measures: education, healthcare access, income equality — not just raw wealth.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with high ICOR consistently achieve high LE regardless of GDP.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05840"/>
            <a:ext cx="39319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3931920" cy="411480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754880" y="10058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per Capita (Raw Wealth)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150876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0.58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only 34% of LE variation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Equatorial Guinea: High oil GDP, one of the worst LE outcomes globally (−4.5 years below predicted).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wealth without human development investment fails to improve health.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12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implication: Invest in education, healthcare access, and equality — not just GDP growth.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Beats the Odds?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86384"/>
            <a:ext cx="1097280" cy="41148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performing better or worse than their wealth and health stats predict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4023360" cy="411480"/>
          </a:xfrm>
          <a:prstGeom prst="rect">
            <a:avLst/>
          </a:prstGeom>
          <a:solidFill>
            <a:srgbClr val="38A169"/>
          </a:solidFill>
          <a:ln w="12700">
            <a:solidFill>
              <a:srgbClr val="38A1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Overachievers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Vanuatu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0" y="1783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 yrs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3134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2313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 yrs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8437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Nicaragua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0" y="284378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+4.9 yrs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3741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337413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 yrs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904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Honduras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108960" y="39044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+4.6 yrs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297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countries achieve higher LE than their GDP and health indicators predict — effective public health policy.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123444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754880" y="1234440"/>
            <a:ext cx="4023360" cy="411480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846320" y="1234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Underperformers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37760" y="1783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06640" y="17830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−8.7 yrs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23134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Angola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406640" y="23134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−8.1 yrs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937760" y="28437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Turkmenistan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406640" y="284378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−6.3 yrs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37760" y="33741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Kazakhstan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406640" y="337413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−6.3 yrs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937760" y="3904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Russia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406640" y="3904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−5.8 yrs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46320" y="4297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Conflict, weak institutions, and post-Soviet health collapse — factors not captured by individual metrics.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Are We Headed?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86384"/>
            <a:ext cx="1097280" cy="41148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forecast — global life expectancy extended to 2025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005840"/>
          <a:ext cx="6217920" cy="3794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6949440" y="100584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6949440" y="1005840"/>
            <a:ext cx="64008" cy="1051560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7086600" y="107899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71.97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086600" y="15727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LE in 2015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949440" y="228600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6949440" y="2286000"/>
            <a:ext cx="64008" cy="10515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7086600" y="23591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7086600" y="28529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LE in 2025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949440" y="356616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6949440" y="3566160"/>
            <a:ext cx="64008" cy="1051560"/>
          </a:xfrm>
          <a:prstGeom prst="rect">
            <a:avLst/>
          </a:prstGeom>
          <a:solidFill>
            <a:srgbClr val="126872"/>
          </a:solidFill>
          <a:ln w="12700">
            <a:solidFill>
              <a:srgbClr val="12687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7086600" y="363931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+1.91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7086600" y="41330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gain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 → 2025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Caveat: COVID-19 (2020–22) caused a real setback not captured here. Actual 2025 LE likely near lower bound of forecast confidence interval.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Regional Picture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86384"/>
            <a:ext cx="1097280" cy="41148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averages — the true picture vs simple averages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005840"/>
          <a:ext cx="594360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6583680" y="1005840"/>
            <a:ext cx="2286000" cy="3840480"/>
          </a:xfrm>
          <a:prstGeom prst="rect">
            <a:avLst/>
          </a:prstGeom>
          <a:solidFill>
            <a:srgbClr val="0A2342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6720840" y="10972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A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720840" y="1463040"/>
            <a:ext cx="2011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9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South-East Asia
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−2.19 years
India pulls the true average down
</a:t>
            </a:r>
            <a:r>
              <a:rPr lang="en-US" sz="1100" b="1" dirty="0">
                <a:solidFill>
                  <a:srgbClr val="2CA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W. Pacific
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+2.44 years
China's size inflates weighted avg
</a:t>
            </a:r>
            <a:r>
              <a:rPr lang="en-US" sz="1100" b="1" dirty="0">
                <a:solidFill>
                  <a:srgbClr val="2CA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Americas
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+2.11 years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and Brazil above regional avg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914400" cy="36576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02920" cy="594360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0241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A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ICOR beats GDP: 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307592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country invests wealth in human development predicts LE far better than raw wealth alone (r=0.89 vs 0.58).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801368"/>
            <a:ext cx="502920" cy="594360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7200" y="180136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81965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A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Immunization saves lives: 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10312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after controlling for wealth, immunization has a genuine independent effect — 0.3 extra years per 1% coverage increase in developing nations.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596896"/>
            <a:ext cx="502920" cy="594360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57200" y="2596896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261518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A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hits diminishing returns: 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2898648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Preston Curve: each dollar of GDP matters ~10× more in poor countries than rich ones.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92424"/>
            <a:ext cx="502920" cy="594360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57200" y="3392424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3410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A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countries beat the odds: 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3694176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Vanuatu, Vietnam, Nicaragua achieve 5+ more years than predicted — effective public health policy matters.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187952"/>
            <a:ext cx="502920" cy="594360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57200" y="4187952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4206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A5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expectancy is rising: 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97280" y="4489704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projects global LE reaching ~73.9 years by 2025 — assuming no structural breaks like COVID-19.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</TotalTime>
  <Words>834</Words>
  <Application>Microsoft Office PowerPoint</Application>
  <PresentationFormat>On-screen Show (16:9)</PresentationFormat>
  <Paragraphs>130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Ibrahim Elkhatib</cp:lastModifiedBy>
  <cp:revision>2</cp:revision>
  <dcterms:created xsi:type="dcterms:W3CDTF">2026-05-07T10:50:31Z</dcterms:created>
  <dcterms:modified xsi:type="dcterms:W3CDTF">2026-05-07T17:24:55Z</dcterms:modified>
</cp:coreProperties>
</file>